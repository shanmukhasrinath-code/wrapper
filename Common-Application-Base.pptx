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926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PLATFORM ENGINEERING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Common Application 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400" b="0">
                <a:solidFill>
                  <a:srgbClr val="CBD5E1"/>
                </a:solidFill>
                <a:latin typeface="Segoe UI"/>
              </a:rPr>
              <a:t>A reusable FastAPI foundation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You write business logic.  You inherit the plumbing.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937760"/>
            <a:ext cx="201168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16636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Observability   |   Correlation   |   Audit   |   Background jobs   |   Resilience   |   Security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The problem we kept paying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Every new service rebuilt the same plumbing - and rebuilt it differently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65376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65376"/>
            <a:ext cx="3429000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57984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Rebuilt every time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Structured logging and a request id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Distributed tracing wiring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Metrics with sane label cardinality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consistent error response shape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DB session lifecycle and migrations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Background jobs with a retry policy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Rate limits, timeouts, circuit breaking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Health probes, CORS, security headers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CI pipeline and a security scan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65376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65376"/>
            <a:ext cx="3429000" cy="502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57984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What that costs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6-8 weeks</a:t>
            </a:r>
            <a:r>
              <a:rPr sz="1250" b="0">
                <a:solidFill>
                  <a:srgbClr val="334155"/>
                </a:solidFill>
                <a:latin typeface="Segoe UI"/>
              </a:rPr>
              <a:t> of engineering per service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Built under feature pressure, so built thinly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Every service logs a little differently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Nobody can answer "what happened to this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request?" across services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 same bugs found and fixed N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65376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65376"/>
            <a:ext cx="3429000" cy="5029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57984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And the mistakes are known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Tasks silently never running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Autogenerate proposing a DROP TABLE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Audit rows attributed to nobody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Redis blip turning into a 500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One bug logged three times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An install step reporting success over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broken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778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Each of those six was a real, diagnosed bug in this repo - and each now has a regression test that names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One rule, mechanically enforced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7"/>
            <a:ext cx="6766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92807"/>
            <a:ext cx="45720" cy="1371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57400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F172A"/>
                </a:solidFill>
                <a:latin typeface="Consolas"/>
              </a:rPr>
              <a:t>app/core/      &lt;- infrastructure.  DO NOT EDIT to add a feature.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0D9488"/>
                </a:solidFill>
                <a:latin typeface="Consolas"/>
              </a:rPr>
              <a:t>app/services/  &lt;- business logic goes HERE.  Auto-discovered.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93008"/>
            <a:ext cx="67665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0">
                <a:solidFill>
                  <a:srgbClr val="334155"/>
                </a:solidFill>
                <a:latin typeface="Segoe UI"/>
              </a:rPr>
              <a:t>Adding a feature requires </a:t>
            </a:r>
            <a:r>
              <a:rPr sz="1650" b="1">
                <a:solidFill>
                  <a:srgbClr val="334155"/>
                </a:solidFill>
                <a:latin typeface="Segoe UI"/>
              </a:rPr>
              <a:t>zero</a:t>
            </a:r>
            <a:r>
              <a:rPr sz="1650" b="0">
                <a:solidFill>
                  <a:srgbClr val="334155"/>
                </a:solidFill>
                <a:latin typeface="Segoe UI"/>
              </a:rPr>
              <a:t> edits to app/core/</a:t>
            </a:r>
            <a:r>
              <a:rPr sz="1650" b="1">
                <a:solidFill>
                  <a:srgbClr val="334155"/>
                </a:solidFill>
                <a:latin typeface="Segoe UI"/>
              </a:rPr>
              <a:t> and </a:t>
            </a:r>
            <a:r>
              <a:rPr sz="1650" b="0">
                <a:solidFill>
                  <a:srgbClr val="334155"/>
                </a:solidFill>
                <a:latin typeface="Segoe UI"/>
              </a:rPr>
              <a:t>zero</a:t>
            </a:r>
            <a:r>
              <a:rPr sz="1650" b="1">
                <a:solidFill>
                  <a:srgbClr val="334155"/>
                </a:solidFill>
                <a:latin typeface="Segoe UI"/>
              </a:rPr>
              <a:t> edits to app/main.py.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0">
                <a:solidFill>
                  <a:srgbClr val="334155"/>
                </a:solidFill>
                <a:latin typeface="Segoe UI"/>
              </a:rPr>
              <a:t>This is not a convention. An </a:t>
            </a:r>
            <a:r>
              <a:rPr sz="1650" b="1">
                <a:solidFill>
                  <a:srgbClr val="334155"/>
                </a:solidFill>
                <a:latin typeface="Segoe UI"/>
              </a:rPr>
              <a:t>import-linter contract</a:t>
            </a:r>
            <a:r>
              <a:rPr sz="1650" b="0">
                <a:solidFill>
                  <a:srgbClr val="334155"/>
                </a:solidFill>
                <a:latin typeface="Segoe UI"/>
              </a:rPr>
              <a:t> fails the build if app.core imports app.services - and a second contract stops features importing each other.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0F172A"/>
                </a:solidFill>
                <a:latin typeface="Segoe UI"/>
              </a:rPr>
              <a:t>So the boundary cannot erode quietly. It erodes loudly, in CI, on the commit that broke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892807"/>
            <a:ext cx="3749039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892807"/>
            <a:ext cx="3749039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185415"/>
            <a:ext cx="3200399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Drop in a module, get: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34155"/>
                </a:solidFill>
                <a:latin typeface="Segoe UI"/>
              </a:rPr>
              <a:t>router = APIRouter(...)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mounted on the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34155"/>
                </a:solidFill>
                <a:latin typeface="Segoe UI"/>
              </a:rPr>
              <a:t>@celery_app.task(...)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registered with the worker, and 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inherits the retry policy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334155"/>
                </a:solidFill>
                <a:latin typeface="Segoe UI"/>
              </a:rPr>
              <a:t>a SQLAlchemy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visible to Alembic autogenerate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No registry to update. No import list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to remember.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How the blocks are wired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One request, and every component it touches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10835640" cy="39776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21408"/>
            <a:ext cx="1234440" cy="6858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212848"/>
            <a:ext cx="112471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121408"/>
            <a:ext cx="196596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212848"/>
            <a:ext cx="1856231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Middleware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request_id | trace |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121408"/>
            <a:ext cx="1965960" cy="685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2212848"/>
            <a:ext cx="1856231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Your router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app/services/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21408"/>
            <a:ext cx="155448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2212848"/>
            <a:ext cx="144475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Postgres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DbSession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21408"/>
            <a:ext cx="1234440" cy="685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4" y="2212848"/>
            <a:ext cx="112471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Redis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127248"/>
            <a:ext cx="196596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3218688"/>
            <a:ext cx="1856231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Celery -&gt; worker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ids in message headers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127248"/>
            <a:ext cx="1554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3218688"/>
            <a:ext cx="1444752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MinIO / S3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objects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127248"/>
            <a:ext cx="123444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0264" y="3218688"/>
            <a:ext cx="1124712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audit_log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append-only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40" y="2624328"/>
            <a:ext cx="868680" cy="11430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33304" y="2715768"/>
            <a:ext cx="758952" cy="996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Other services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ids sent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41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Segoe UI"/>
              </a:rPr>
              <a:t>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61688"/>
            <a:ext cx="1828800" cy="5943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453127"/>
            <a:ext cx="17190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structlog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JSON to stdout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4361688"/>
            <a:ext cx="1554480" cy="59436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80944" y="4453127"/>
            <a:ext cx="144475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Promtail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pushes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361688"/>
            <a:ext cx="13716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3" y="4453127"/>
            <a:ext cx="1261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Loki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logs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361688"/>
            <a:ext cx="18288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3" y="4453127"/>
            <a:ext cx="17190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Prometheus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pulls /metrics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361688"/>
            <a:ext cx="1371600" cy="594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4453127"/>
            <a:ext cx="126187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Tempo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traces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4361688"/>
            <a:ext cx="146304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8944" y="4453127"/>
            <a:ext cx="135331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Grafana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draws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532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334155"/>
                </a:solidFill>
                <a:latin typeface="Segoe UI"/>
              </a:rPr>
              <a:t>Pull vs push</a:t>
            </a:r>
            <a:r>
              <a:rPr sz="1450" b="0">
                <a:solidFill>
                  <a:srgbClr val="334155"/>
                </a:solidFill>
                <a:latin typeface="Segoe UI"/>
              </a:rPr>
              <a:t> - Prometheus </a:t>
            </a:r>
            <a:r>
              <a:rPr sz="1450" b="1">
                <a:solidFill>
                  <a:srgbClr val="334155"/>
                </a:solidFill>
                <a:latin typeface="Segoe UI"/>
              </a:rPr>
              <a:t>pulls</a:t>
            </a:r>
            <a:r>
              <a:rPr sz="1450" b="0">
                <a:solidFill>
                  <a:srgbClr val="334155"/>
                </a:solidFill>
                <a:latin typeface="Segoe UI"/>
              </a:rPr>
              <a:t> /metrics every 15 seconds. Promtail and OpenTelemetry </a:t>
            </a:r>
            <a:r>
              <a:rPr sz="1450" b="1">
                <a:solidFill>
                  <a:srgbClr val="334155"/>
                </a:solidFill>
                <a:latin typeface="Segoe UI"/>
              </a:rPr>
              <a:t>push</a:t>
            </a:r>
            <a:r>
              <a:rPr sz="1450" b="0">
                <a:solidFill>
                  <a:srgbClr val="334155"/>
                </a:solidFill>
                <a:latin typeface="Segoe UI"/>
              </a:rPr>
              <a:t>. Grafana stores nothing: it queries the three stores and draws at request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The Correlation Contract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The one guarantee everything else exists to serve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One id joins five independent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The base generates it, propagates it and stamps it everywhere -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1083564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01368"/>
            <a:ext cx="45720" cy="8686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103784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0F172A"/>
                </a:solidFill>
                <a:latin typeface="Consolas"/>
              </a:rPr>
              <a:t>request_id = incoming if _is_valid_request_id(incoming) else str(uuid.uuid4())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75569"/>
                </a:solidFill>
                <a:latin typeface="Consolas"/>
              </a:rPr>
              <a:t># app/core/middleware/correlation.py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898648"/>
          <a:ext cx="108356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617220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Store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What it holds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How the id gets there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Loki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every log line, as JSON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merge_contextvars stamps it on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every</a:t>
                      </a: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 line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Tempo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the span waterfall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OpenTelemetry makes trace_id; spans cross processes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Postgres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append-only audit rows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request_id and trace_id are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columns</a:t>
                      </a: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 on audit_log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Prometheus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aggregate counters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deliberately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not</a:t>
                      </a: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 labelled by id - cardinality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Sentry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unhandled exceptions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tagged with request_id; expected errors excluded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5641848"/>
            <a:ext cx="10835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Proven, not asserted: </a:t>
            </a:r>
            <a:r>
              <a:rPr sz="1500" b="1">
                <a:solidFill>
                  <a:srgbClr val="0F172A"/>
                </a:solidFill>
                <a:latin typeface="Segoe UI"/>
              </a:rPr>
              <a:t>make smoke</a:t>
            </a:r>
            <a:r>
              <a:rPr sz="1500" b="0">
                <a:solidFill>
                  <a:srgbClr val="0F172A"/>
                </a:solidFill>
                <a:latin typeface="Segoe UI"/>
              </a:rPr>
              <a:t> drives three real requests, then queries all five stores independently and fails if any one is missing the id.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Segoe UI"/>
              </a:rPr>
              <a:t>It survives every hop - into the worker, and now out to the next service too. A worker log line written two seconds later, in another container, carries the same request_id.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Reading the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Structured means each line is an object - not that a request becomes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5303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530352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39696"/>
            <a:ext cx="475488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One request -&gt; many lines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audit.written             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ticket.created            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request.completed          app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task.started           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notify_assignee.begin  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audit.written          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notify_assignee.done   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Consolas"/>
              </a:rPr>
              <a:t>task.finished          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Eight events. Eight lines. </a:t>
            </a:r>
            <a:r>
              <a:rPr sz="1300" b="1">
                <a:solidFill>
                  <a:srgbClr val="334155"/>
                </a:solidFill>
                <a:latin typeface="Segoe UI"/>
              </a:rPr>
              <a:t>One</a:t>
            </a:r>
            <a:r>
              <a:rPr sz="1300" b="0">
                <a:solidFill>
                  <a:srgbClr val="334155"/>
                </a:solidFill>
                <a:latin typeface="Segoe UI"/>
              </a:rPr>
              <a:t> shared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request_id - so Grafana can group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47088"/>
            <a:ext cx="5303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47088"/>
            <a:ext cx="53035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139696"/>
            <a:ext cx="475488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Why not buffer into one line?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34155"/>
                </a:solidFill>
                <a:latin typeface="Segoe UI"/>
              </a:rPr>
              <a:t>You would lose the timeline.</a:t>
            </a:r>
            <a:r>
              <a:rPr sz="1300" b="0">
                <a:solidFill>
                  <a:srgbClr val="334155"/>
                </a:solidFill>
                <a:latin typeface="Segoe UI"/>
              </a:rPr>
              <a:t> The audit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row landed 12 ms before the response went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out. That is diagnostic information.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34155"/>
                </a:solidFill>
                <a:latin typeface="Segoe UI"/>
              </a:rPr>
              <a:t>The worker runs later, elsewhere.</a:t>
            </a:r>
            <a:r>
              <a:rPr sz="1300" b="0">
                <a:solidFill>
                  <a:srgbClr val="334155"/>
                </a:solidFill>
                <a:latin typeface="Segoe UI"/>
              </a:rPr>
              <a:t> There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is no "end of request" at which to merge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its lines 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34155"/>
                </a:solidFill>
                <a:latin typeface="Segoe UI"/>
              </a:rPr>
              <a:t>A crash would lose everything</a:t>
            </a:r>
            <a:r>
              <a:rPr sz="1300" b="0">
                <a:solidFill>
                  <a:srgbClr val="334155"/>
                </a:solidFill>
                <a:latin typeface="Segoe UI"/>
              </a:rPr>
              <a:t> - precisely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Segoe UI"/>
              </a:rPr>
              <a:t>when you need the logs most.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2472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334155"/>
                </a:solidFill>
                <a:latin typeface="Segoe UI"/>
              </a:rPr>
              <a:t>There </a:t>
            </a:r>
            <a:r>
              <a:rPr sz="1450" b="1">
                <a:solidFill>
                  <a:srgbClr val="334155"/>
                </a:solidFill>
                <a:latin typeface="Segoe UI"/>
              </a:rPr>
              <a:t>is</a:t>
            </a:r>
            <a:r>
              <a:rPr sz="1450" b="0">
                <a:solidFill>
                  <a:srgbClr val="334155"/>
                </a:solidFill>
                <a:latin typeface="Segoe UI"/>
              </a:rPr>
              <a:t> one summary line per request - request.completed, carrying http_status and duration_ms. The other lines are the story; that one is the access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Building on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What you actually do on Monday morning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Your first feature, in 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Nothing outside your own folder is edited at any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25786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2578608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21031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21408"/>
            <a:ext cx="157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Make the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24328"/>
            <a:ext cx="202996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app/services/thing/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  __init__.py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  models.py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  router.py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  tasks.py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 package name is the feature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name. Nothing registers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47088"/>
            <a:ext cx="25786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847088"/>
            <a:ext cx="2578608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30752" y="21031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121408"/>
            <a:ext cx="157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Write the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24328"/>
            <a:ext cx="202996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router = APIRouter(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    prefix="/things")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Module-level name `router` is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contract. Discovery walks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app/services/</a:t>
            </a:r>
            <a:r>
              <a:rPr sz="1250" b="1">
                <a:solidFill>
                  <a:srgbClr val="334155"/>
                </a:solidFill>
                <a:latin typeface="Segoe UI"/>
              </a:rPr>
              <a:t> and mounts 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It appears in Swagger on restart.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47088"/>
            <a:ext cx="25786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47088"/>
            <a:ext cx="2578608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21031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121408"/>
            <a:ext cx="157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Create the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624328"/>
            <a:ext cx="202996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make revision m="add thing"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make migrate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Discovery makes the model visible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to Alembic. This is the one step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that is </a:t>
            </a:r>
            <a:r>
              <a:rPr sz="1250" b="1">
                <a:solidFill>
                  <a:srgbClr val="334155"/>
                </a:solidFill>
                <a:latin typeface="Segoe UI"/>
              </a:rPr>
              <a:t>not</a:t>
            </a:r>
            <a:r>
              <a:rPr sz="1250" b="0">
                <a:solidFill>
                  <a:srgbClr val="334155"/>
                </a:solidFill>
                <a:latin typeface="Segoe UI"/>
              </a:rPr>
              <a:t> automatic - nothing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here writes DDL behind your 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59" y="1847088"/>
            <a:ext cx="25786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847088"/>
            <a:ext cx="2578608" cy="5029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8591" y="2103120"/>
            <a:ext cx="384048" cy="384048"/>
          </a:xfrm>
          <a:prstGeom prst="ellipse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799" y="2121408"/>
            <a:ext cx="15727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Prove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24328"/>
            <a:ext cx="202996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make lint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make test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lint includes the boundary check,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so if you accidentally edited core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 build says so.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Then `make smoke`.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7044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The whole POC in this repo - 7 endpoints, 2 background tasks, file attachments - was built this way. </a:t>
            </a:r>
            <a:r>
              <a:rPr sz="1450" b="1">
                <a:solidFill>
                  <a:srgbClr val="0F172A"/>
                </a:solidFill>
                <a:latin typeface="Segoe UI"/>
              </a:rPr>
              <a:t>git diff against the base shows zero lines changed in app/core or app/main.py.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The imports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Depend on the interface, never the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64008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01368"/>
            <a:ext cx="45720" cy="32004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app.core.db.session import DbSession       # route dependency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app.core.db import Base                    # model 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 import cache                      # get_or_set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app.core.storage import get_storage        # objects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app.core.jobs import enqueue               # background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0D9488"/>
                </a:solidFill>
                <a:latin typeface="Consolas"/>
              </a:rPr>
              <a:t>from app.core.http import request               # outbound calls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app.core.audit import write_audit          # who did what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app.core.errors import NotFoundError       # and friends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onsolas"/>
              </a:rPr>
              <a:t>from app.core.logging import get_logger         # structured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801368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801368"/>
            <a:ext cx="4206240" cy="502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093976"/>
            <a:ext cx="365759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Never import directly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boto3</a:t>
            </a:r>
            <a:r>
              <a:rPr sz="1250" b="0">
                <a:solidFill>
                  <a:srgbClr val="334155"/>
                </a:solidFill>
                <a:latin typeface="Segoe UI"/>
              </a:rPr>
              <a:t>   ·   </a:t>
            </a:r>
            <a:r>
              <a:rPr sz="1250" b="1">
                <a:solidFill>
                  <a:srgbClr val="334155"/>
                </a:solidFill>
                <a:latin typeface="Segoe UI"/>
              </a:rPr>
              <a:t>redis</a:t>
            </a:r>
            <a:r>
              <a:rPr sz="1250" b="0">
                <a:solidFill>
                  <a:srgbClr val="334155"/>
                </a:solidFill>
                <a:latin typeface="Segoe UI"/>
              </a:rPr>
              <a:t>   ·   </a:t>
            </a:r>
            <a:r>
              <a:rPr sz="1250" b="1">
                <a:solidFill>
                  <a:srgbClr val="334155"/>
                </a:solidFill>
                <a:latin typeface="Segoe UI"/>
              </a:rPr>
              <a:t>httpx</a:t>
            </a:r>
            <a:r>
              <a:rPr sz="1250" b="0">
                <a:solidFill>
                  <a:srgbClr val="334155"/>
                </a:solidFill>
                <a:latin typeface="Segoe UI"/>
              </a:rPr>
              <a:t>   ·   a driver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httpx is the sharpest case: a client you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build by hand works perfectly - 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silently drops the correlation ids, so the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trail stops at the first network hop.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Depend on the interface and the backend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stays swappable and fakeable.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84648"/>
            <a:ext cx="108813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67528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Never hand-roll these, because they are already applied to your code: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334155"/>
                </a:solidFill>
                <a:latin typeface="Segoe UI"/>
              </a:rPr>
              <a:t>correlation ids  ·  log format  ·  trace spans  ·  /metrics counters  ·  the error JSON shape  ·  security headers  ·  DB session lifecycle  ·  cache degradation  ·  audit attribution  ·  health probes  ·  task retries  ·  rate limiting  ·  outbound timeouts and circuit breaking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Safety 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Guarantees enforced by machinery, not by review 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65376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65376"/>
            <a:ext cx="342900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57984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Boundary contract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import-linter fails the build if app.core imports app.services, or if two features import each other.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65376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65376"/>
            <a:ext cx="3429000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57984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Destructive-migration guard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Autogenerate </a:t>
            </a:r>
            <a:r>
              <a:rPr sz="1250" b="1">
                <a:solidFill>
                  <a:srgbClr val="334155"/>
                </a:solidFill>
                <a:latin typeface="Segoe UI"/>
              </a:rPr>
              <a:t>refuses to emit a DROP</a:t>
            </a:r>
            <a:r>
              <a:rPr sz="1250" b="0">
                <a:solidFill>
                  <a:srgbClr val="334155"/>
                </a:solidFill>
                <a:latin typeface="Segoe UI"/>
              </a:rPr>
              <a:t> unless ALLOW_DESTRUCTIVE=1. A model that failed to import looks identical to a deleted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65376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65376"/>
            <a:ext cx="3429000" cy="502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57984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Audit immutability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Row-level </a:t>
            </a:r>
            <a:r>
              <a:rPr sz="1250" b="1">
                <a:solidFill>
                  <a:srgbClr val="334155"/>
                </a:solidFill>
                <a:latin typeface="Segoe UI"/>
              </a:rPr>
              <a:t>and</a:t>
            </a:r>
            <a:r>
              <a:rPr sz="1250" b="0">
                <a:solidFill>
                  <a:srgbClr val="334155"/>
                </a:solidFill>
                <a:latin typeface="Segoe UI"/>
              </a:rPr>
              <a:t> statement-level triggers block UPDATE, DELETE and TRUNCATE. The app connects as a least-privilege role, so it cannot DROP the triggers.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95344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895344"/>
            <a:ext cx="34290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87952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Fail-loud discovery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plugin that raises on import </a:t>
            </a:r>
            <a:r>
              <a:rPr sz="1250" b="1">
                <a:solidFill>
                  <a:srgbClr val="334155"/>
                </a:solidFill>
                <a:latin typeface="Segoe UI"/>
              </a:rPr>
              <a:t>stops startup</a:t>
            </a:r>
            <a:r>
              <a:rPr sz="1250" b="0">
                <a:solidFill>
                  <a:srgbClr val="334155"/>
                </a:solidFill>
                <a:latin typeface="Segoe UI"/>
              </a:rPr>
              <a:t>. A half-loaded plugin set is worse than a stopped process.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895344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895344"/>
            <a:ext cx="3429000" cy="5029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187952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Deployment secrets guard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 app refuses to start outside 'local' on the shipped compose defaults. CORS defaults to </a:t>
            </a:r>
            <a:r>
              <a:rPr sz="1250" b="1">
                <a:solidFill>
                  <a:srgbClr val="334155"/>
                </a:solidFill>
                <a:latin typeface="Segoe UI"/>
              </a:rPr>
              <a:t>deny</a:t>
            </a:r>
            <a:r>
              <a:rPr sz="1250" b="0">
                <a:solidFill>
                  <a:srgbClr val="334155"/>
                </a:solidFill>
                <a:latin typeface="Segoe UI"/>
              </a:rPr>
              <a:t>; the wildcard has to be typed.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3895344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895344"/>
            <a:ext cx="3429000" cy="5029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87952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An install that cannot lie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make install imports every dependency for real, because a partially-failed sync used to report success over a broken venv.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Built-in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One dependency having a bad day must not become your outage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5303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01368"/>
            <a:ext cx="530352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93976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Segoe UI"/>
              </a:rPr>
              <a:t>Inbound: rate limiting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</a:t>
            </a:r>
            <a:r>
              <a:rPr sz="1250" b="1">
                <a:solidFill>
                  <a:srgbClr val="334155"/>
                </a:solidFill>
                <a:latin typeface="Segoe UI"/>
              </a:rPr>
              <a:t>shared counter in Redis</a:t>
            </a:r>
            <a:r>
              <a:rPr sz="1250" b="0">
                <a:solidFill>
                  <a:srgbClr val="334155"/>
                </a:solidFill>
                <a:latin typeface="Segoe UI"/>
              </a:rPr>
              <a:t>, so three replicas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do not silently allow three times the limit.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Fails open.</a:t>
            </a:r>
            <a:r>
              <a:rPr sz="1250" b="0">
                <a:solidFill>
                  <a:srgbClr val="334155"/>
                </a:solidFill>
                <a:latin typeface="Segoe UI"/>
              </a:rPr>
              <a:t> Losing Redis costs the safeguard,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never uptime - the same trade as the cache.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Every</a:t>
            </a:r>
            <a:r>
              <a:rPr sz="1250" b="0">
                <a:solidFill>
                  <a:srgbClr val="334155"/>
                </a:solidFill>
                <a:latin typeface="Segoe UI"/>
              </a:rPr>
              <a:t> response carries X-RateLimit-Remaining,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so callers never have to probe the limit.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01368"/>
            <a:ext cx="5303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01368"/>
            <a:ext cx="5303520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093976"/>
            <a:ext cx="47548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Segoe UI"/>
              </a:rPr>
              <a:t>Outbound: the correlated client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X-Request-ID and W3C traceparent injected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on every call, through an httpx event hook -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so no code path can forget them.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Timeouts are not optional.</a:t>
            </a:r>
            <a:r>
              <a:rPr sz="1250" b="0">
                <a:solidFill>
                  <a:srgbClr val="334155"/>
                </a:solidFill>
                <a:latin typeface="Segoe UI"/>
              </a:rPr>
              <a:t> Bounded retry with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jitter. A </a:t>
            </a:r>
            <a:r>
              <a:rPr sz="1250" b="1">
                <a:solidFill>
                  <a:srgbClr val="334155"/>
                </a:solidFill>
                <a:latin typeface="Segoe UI"/>
              </a:rPr>
              <a:t>per-host circuit breaker</a:t>
            </a:r>
            <a:r>
              <a:rPr sz="1250" b="0">
                <a:solidFill>
                  <a:srgbClr val="334155"/>
                </a:solidFill>
                <a:latin typeface="Segoe UI"/>
              </a:rPr>
              <a:t> turns a dead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upstream into an instant 503, not a queue of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workers waiting out a timeout.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33087"/>
            <a:ext cx="108813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159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Verified live on the running stack, not asserted: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727448"/>
            <a:ext cx="1033272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4727448"/>
            <a:ext cx="45720" cy="1463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48920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59E5B"/>
                </a:solidFill>
                <a:latin typeface="Consolas"/>
              </a:rPr>
              <a:t>130 requests against a 120/minute budget  -&gt;  120 x 200,  10 x 429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Consolas"/>
              </a:rPr>
              <a:t>429 body: {"error":"rate_limited", "request_id":"..."}   Retry-After: 31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59E5B"/>
                </a:solidFill>
                <a:latin typeface="Consolas"/>
              </a:rPr>
              <a:t>outbound hop: sent request_id OUTBOUND-PROOF-001  -&gt;  receiver adopted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59E5B"/>
                </a:solidFill>
                <a:latin typeface="Consolas"/>
              </a:rPr>
              <a:t>outbound hop: caller trace_id == receiver trace_id   -&gt;  one trace, two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What CI runs on every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47088"/>
          <a:ext cx="1083564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81228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What it enforces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Lint and format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make lint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ruff, format check,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and the core/services boundary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Types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make typecheck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mypy with disallow_untyped_defs across app/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make test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216 tests</a:t>
                      </a: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, 80% gate - currently at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90%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Stack health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make up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10 services, each with a real healthcheck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Correlation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make smoke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one request_id present in </a:t>
                      </a:r>
                      <a:r>
                        <a:rPr sz="1350" b="1">
                          <a:solidFill>
                            <a:srgbClr val="334155"/>
                          </a:solidFill>
                          <a:latin typeface="Segoe UI"/>
                        </a:rPr>
                        <a:t>all five</a:t>
                      </a: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 stores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Security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Trivy (CI only)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334155"/>
                          </a:solidFill>
                          <a:latin typeface="Segoe UI"/>
                        </a:rPr>
                        <a:t>deps, secrets, misconfig - HIGH/CRITICAL break the build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727448"/>
            <a:ext cx="10835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34155"/>
                </a:solidFill>
                <a:latin typeface="Segoe UI"/>
              </a:rPr>
              <a:t>Trivy scans the image </a:t>
            </a:r>
            <a:r>
              <a:rPr sz="1500" b="1">
                <a:solidFill>
                  <a:srgbClr val="334155"/>
                </a:solidFill>
                <a:latin typeface="Segoe UI"/>
              </a:rPr>
              <a:t>before it is pushed</a:t>
            </a:r>
            <a:r>
              <a:rPr sz="1500" b="0">
                <a:solidFill>
                  <a:srgbClr val="334155"/>
                </a:solidFill>
                <a:latin typeface="Segoe UI"/>
              </a:rPr>
              <a:t> (push: false, load: true), so a vulnerable image never reaches the registry.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34155"/>
                </a:solidFill>
                <a:latin typeface="Segoe UI"/>
              </a:rPr>
              <a:t>Every suppression names an </a:t>
            </a:r>
            <a:r>
              <a:rPr sz="1500" b="1">
                <a:solidFill>
                  <a:srgbClr val="334155"/>
                </a:solidFill>
                <a:latin typeface="Segoe UI"/>
              </a:rPr>
              <a:t>ID and a path</a:t>
            </a:r>
            <a:r>
              <a:rPr sz="1500" b="0">
                <a:solidFill>
                  <a:srgbClr val="334155"/>
                </a:solidFill>
                <a:latin typeface="Segoe UI"/>
              </a:rPr>
              <a:t> and carries a written justification - nothing is globally muted. That is the difference between a security gate and security theatre.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Integration tests </a:t>
            </a:r>
            <a:r>
              <a:rPr sz="1500" b="1">
                <a:solidFill>
                  <a:srgbClr val="0F172A"/>
                </a:solidFill>
                <a:latin typeface="Segoe UI"/>
              </a:rPr>
              <a:t>skip with a stated reason</a:t>
            </a:r>
            <a:r>
              <a:rPr sz="1500" b="1">
                <a:solidFill>
                  <a:srgbClr val="0F172A"/>
                </a:solidFill>
                <a:latin typeface="Segoe UI"/>
              </a:rPr>
              <a:t> when the stack is down, so a missing stack never masquerades as a passing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Proof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A real feature, built on the base, in one branch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The POC: a support-ticket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branch poc/support-tickets - built entirely inside the plugin seam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512064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45720" cy="196596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11680"/>
            <a:ext cx="466344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0F172A"/>
                </a:solidFill>
                <a:latin typeface="Consolas"/>
              </a:rPr>
              <a:t>app/services/tickets/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models.py     SQLAlchemy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schemas.py    Pydantic contracts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service.py    status machine, caching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router.py     7 endpoints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tasks.py      2 Celery tasks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334155"/>
                </a:solidFill>
                <a:latin typeface="Consolas"/>
              </a:rPr>
              <a:t>  verify.py     one-call block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334155"/>
                </a:solidFill>
                <a:latin typeface="Segoe UI"/>
              </a:rPr>
              <a:t>Seven endpoints. Two background tasks. A status state machine, cache-aside reads, file attachments in MinIO, audit rows on every write.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Every base block exercised by real business logic - not by a demo stub.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47088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66543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59E5B"/>
                </a:solidFill>
                <a:latin typeface="Segoe UI"/>
              </a:rPr>
              <a:t>0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lines changed in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app/core or main.py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847088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66543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Segoe UI"/>
              </a:rPr>
              <a:t>712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lines of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feature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145536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364991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Segoe UI"/>
              </a:rPr>
              <a:t>36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tests for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the feature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145536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364991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F172A"/>
                </a:solidFill>
                <a:latin typeface="Segoe UI"/>
              </a:rPr>
              <a:t>1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migration,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hand-checked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44568"/>
            <a:ext cx="5349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727448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The claim, verified: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D9488"/>
                </a:solidFill>
                <a:latin typeface="Consolas"/>
              </a:rPr>
              <a:t>git diff master -- app/core app/main.py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4155"/>
                </a:solidFill>
                <a:latin typeface="Segoe UI"/>
              </a:rPr>
              <a:t>-&gt; empty.  The base was never touched.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What it saves on a new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Engineering days to build each block properly - the base delivers all of it on day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755648"/>
          <a:ext cx="10835640" cy="4105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7960"/>
                <a:gridCol w="2148840"/>
                <a:gridCol w="2148840"/>
              </a:tblGrid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Block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Build it well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With the base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Structured logging and correlation ids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2-3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Distributed tracing across processes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3-4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Metrics with bounded label cardinality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1-2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Grafana / Loki / Prometheus / Tempo stack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3-4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Error contract and handlers, no duplicate logs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Async DB sessions, Alembic, destructive guard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2-3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Append-only audit trail and privilege split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3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Celery, retry policy and id propagation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3-4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A cache that degrades instead of failing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1-2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Rate limiting, shared and correct across replicas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1-2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Outbound propagation, timeouts, circuit breaker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2-3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Storage abstraction and presigned URLs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Health probes, CORS, security headers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 days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CI pipeline and Trivy security gates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2-3 days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5779008"/>
            <a:ext cx="1083564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978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Total  =  31-43 engineering days  =  7-9 weeks, per application  -  and it would be built thinly the first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Where this sits architecturally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A modular monolith - carrying the plumbing a service split would require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108356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2029967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029967"/>
            <a:ext cx="329184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212848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Big ball of mud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no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029967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029967"/>
            <a:ext cx="329184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212848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Modular monolith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boundary = import rule    &lt;- we are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29967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29967"/>
            <a:ext cx="32918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2212848"/>
            <a:ext cx="3072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Microservices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boundary = network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55848"/>
            <a:ext cx="5303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55848"/>
            <a:ext cx="5303520" cy="5029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48456"/>
            <a:ext cx="47548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Already true today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One image, two processes</a:t>
            </a:r>
            <a:r>
              <a:rPr sz="1250" b="0">
                <a:solidFill>
                  <a:srgbClr val="334155"/>
                </a:solidFill>
                <a:latin typeface="Segoe UI"/>
              </a:rPr>
              <a:t> - API and worker.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PLUGIN_PACKAGES is an </a:t>
            </a:r>
            <a:r>
              <a:rPr sz="1250" b="1">
                <a:solidFill>
                  <a:srgbClr val="334155"/>
                </a:solidFill>
                <a:latin typeface="Segoe UI"/>
              </a:rPr>
              <a:t>environment variable</a:t>
            </a:r>
            <a:r>
              <a:rPr sz="1250" b="0">
                <a:solidFill>
                  <a:srgbClr val="334155"/>
                </a:solidFill>
                <a:latin typeface="Segoe UI"/>
              </a:rPr>
              <a:t>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the same image can run one feature or all of them.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Features </a:t>
            </a:r>
            <a:r>
              <a:rPr sz="1250" b="1">
                <a:solidFill>
                  <a:srgbClr val="334155"/>
                </a:solidFill>
                <a:latin typeface="Segoe UI"/>
              </a:rPr>
              <a:t>cannot</a:t>
            </a:r>
            <a:r>
              <a:rPr sz="1250" b="0">
                <a:solidFill>
                  <a:srgbClr val="334155"/>
                </a:solidFill>
                <a:latin typeface="Segoe UI"/>
              </a:rPr>
              <a:t> import each other - enforced by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import-linter, not by review.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request_id and trace context </a:t>
            </a:r>
            <a:r>
              <a:rPr sz="1250" b="1">
                <a:solidFill>
                  <a:srgbClr val="334155"/>
                </a:solidFill>
                <a:latin typeface="Segoe UI"/>
              </a:rPr>
              <a:t>cross process 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service boundaries</a:t>
            </a:r>
            <a:r>
              <a:rPr sz="1250" b="1">
                <a:solidFill>
                  <a:srgbClr val="334155"/>
                </a:solidFill>
                <a:latin typeface="Segoe UI"/>
              </a:rPr>
              <a:t>, in both directions.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55848"/>
            <a:ext cx="53035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55848"/>
            <a:ext cx="5303520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3648456"/>
            <a:ext cx="47548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What a real split still needs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A data-ownership decision.</a:t>
            </a:r>
            <a:r>
              <a:rPr sz="1250" b="0">
                <a:solidFill>
                  <a:srgbClr val="334155"/>
                </a:solidFill>
                <a:latin typeface="Segoe UI"/>
              </a:rPr>
              <a:t> One database per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service is the real project - not the code.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A ticket referencing a file becomes an API call,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not a join.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334155"/>
                </a:solidFill>
                <a:latin typeface="Segoe UI"/>
              </a:rPr>
              <a:t>Transaction strategy.</a:t>
            </a:r>
            <a:r>
              <a:rPr sz="1250" b="0">
                <a:solidFill>
                  <a:srgbClr val="334155"/>
                </a:solidFill>
                <a:latin typeface="Segoe UI"/>
              </a:rPr>
              <a:t> DbSession commits per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request today; across services that becomes 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Segoe UI"/>
              </a:rPr>
              <a:t>outbox or a saga - a per-feature design choice.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Looks broken,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The four things that will worry you first, and why each is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9960" y="6355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Common Application Base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847088"/>
          <a:ext cx="1083563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3977639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you see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to do</a:t>
                      </a:r>
                    </a:p>
                  </a:txBody>
                  <a:tcPr marL="128016" marR="91440" marT="27432" marB="27432" anchor="ctr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Grafana panels flat at zero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Every metric panel is rate-based. An idle app correctly shows zero.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Run scripts/seed_demo.py, then set the range to Last 15 minutes.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Tempo empty, "traces missing"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Trace </a:t>
                      </a: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export</a:t>
                      </a: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 is off locally by design. Spans are still created, so trace_id correlation works regardless.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OTEL_EXPORTER_OTLP_ENDPOINT=http://tempo:4318 plus --profile tracing.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Integration tests "skipping"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They skip </a:t>
                      </a:r>
                      <a:r>
                        <a:rPr sz="1200" b="1">
                          <a:solidFill>
                            <a:srgbClr val="334155"/>
                          </a:solidFill>
                          <a:latin typeface="Segoe UI"/>
                        </a:rPr>
                        <a:t>with a stated reason</a:t>
                      </a: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 when the compose stack is down, so a missing stack never looks like a pass.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make up first.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429s during a load test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The rate limiter is working. The default budget is 120 requests per minute per client.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Raise RATE_LIMIT_REQUESTS, or set RATE_LIMIT_ENABLED=false for the test.</a:t>
                      </a:r>
                    </a:p>
                  </a:txBody>
                  <a:tcPr marL="128016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00760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Segoe UI"/>
              </a:rPr>
              <a:t>Sentry is also deliberately disabled locally - no DSN, logged as sentry.disabled. All of this is written down in CLAUDE.md, so the next person does not have to ask.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00584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WHAT YOU GET ON DAY 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Write a router. Ship a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875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A feature is a folder in app/services/ - router, model, tasks. Nothing else is edited.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Every request already carries an id that joins logs, traces, audit rows and metrics.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That id already survives the worker, and already travels to the next service.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Every write already lands in an append-only trail the application itself cannot erase.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A dependency having a bad day already degrades instead of cascading.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|    </a:t>
            </a:r>
            <a:r>
              <a:rPr sz="1650" b="0">
                <a:solidFill>
                  <a:srgbClr val="E2E8F0"/>
                </a:solidFill>
                <a:latin typeface="Segoe UI"/>
              </a:rPr>
              <a:t>Every commit already passes lint, types, 216 tests, a coverage gate and a Trivy scan.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5760720"/>
            <a:ext cx="2011680" cy="320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9893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Base:  branch  master           Working POC:  branch  poc/support-tickets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